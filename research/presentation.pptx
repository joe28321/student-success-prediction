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Success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study of machine learning algorithms for early academic risk prediction</a:t>
            </a:r>
          </a:p>
          <a:p>
            <a:r>
              <a:t>[Team Member 1 &amp; Team Member 2 - add names] - [University name - add] - [Submission date - add]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Schools need early signals about students who may need academic support - not post-exam judgment.</a:t>
            </a:r>
          </a:p>
          <a:p>
            <a:pPr/>
            <a:r>
              <a:t>Common shortcut: using intermediate grades (G1/G2) which 'explain' the final grade but arrive too late.</a:t>
            </a:r>
          </a:p>
          <a:p>
            <a:pPr/>
            <a:r>
              <a:t>This project enforces an honest early scenario: no grade feature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classic ML algorithms on a public, openly licensed dataset (UCI Student Performance).</a:t>
            </a:r>
          </a:p>
          <a:p>
            <a:pPr/>
            <a:r>
              <a:t>Prevent data leakage through an audited, code enforced feature policy.</a:t>
            </a:r>
          </a:p>
          <a:p>
            <a:pPr/>
            <a:r>
              <a:t>Report every metric honestly (including the weak ones) with full reproducibility.</a:t>
            </a:r>
          </a:p>
          <a:p>
            <a:pPr/>
            <a:r>
              <a:t>Deliver an interactive app that can only show measured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RQ1 - How do Logistic Regression, Decision Tree and Random Forest compare in early risk prediction?</a:t>
            </a:r>
          </a:p>
          <a:p>
            <a:pPr/>
            <a:r>
              <a:t>RQ2 - How much performance does adding G1/G2 inject (quantification of leakage)?</a:t>
            </a:r>
          </a:p>
          <a:p>
            <a:pPr/>
            <a:r>
              <a:t>RQ3 - Which metric best serves 'identifying students who need support' under class imbalance?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UCI Student Performance - student-mat.csv: 395 students, 33 columns, 0 missing values.</a:t>
            </a:r>
          </a:p>
          <a:p>
            <a:pPr/>
            <a:r>
              <a:t>Target: at_risk if G3 &lt; 10 - class balance: 265 not_at_risk vs 130 at_risk.</a:t>
            </a:r>
          </a:p>
          <a:p>
            <a:pPr/>
            <a:r>
              <a:t>Features used (early scenario): 30 demographic, social and school-context columns.</a:t>
            </a:r>
          </a:p>
          <a:p>
            <a:pPr/>
            <a:r>
              <a:t>Excluded (leakage): G3 (defines target), G1 &amp; G2 (unavailable early).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Numeric: median imputation + standardization.</a:t>
            </a:r>
          </a:p>
          <a:p>
            <a:pPr/>
            <a:r>
              <a:t>Categorical: most-frequent imputation + one-hot encoding (handle_unknown='ignore').</a:t>
            </a:r>
          </a:p>
          <a:p>
            <a:pPr/>
            <a:r>
              <a:t>All preprocessing fitted on the TRAINING split (ColumnTransformer inside a sklearn Pipeline).</a:t>
            </a:r>
          </a:p>
          <a:p>
            <a:pPr/>
            <a:r>
              <a:t>Tuning: GridSearchCV, 5-fold CV on training data only; the test split is used once at the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- regularized linear baseline (C in {0.1, 1, 10}).</a:t>
            </a:r>
          </a:p>
          <a:p>
            <a:pPr/>
            <a:r>
              <a:t>Decision Tree - interpretable pruning-sensitive rules (depth/min-samples tuned).</a:t>
            </a:r>
          </a:p>
          <a:p>
            <a:pPr/>
            <a:r>
              <a:t>Random Forest - bagged ensemble of trees (n_estimators in {200, 400}, depth/min-samples tuned).</a:t>
            </a:r>
          </a:p>
          <a:p>
            <a:pPr/>
            <a:r>
              <a:t>All three use class_weight='balanced' for the imbalanced at-risk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 (reproducible)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seed 42; stratified split 316 train / 79 test.</a:t>
            </a:r>
          </a:p>
          <a:p>
            <a:pPr/>
            <a:r>
              <a:t>Class balance (train): {'not_at_risk': 212, 'at_risk': 104}, (test): {'not_at_risk': 53, 'at_risk': 26}.</a:t>
            </a:r>
          </a:p>
          <a:p>
            <a:pPr/>
            <a:r>
              <a:t>Positive class: at_risk; scoring: F1 of the positive class.</a:t>
            </a:r>
          </a:p>
          <a:p>
            <a:pPr/>
            <a:r>
              <a:t>Environment: Python 3.13.5, scikit-learn 1.9.1.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/ Precision / Recall / F1 (positive class</a:t>
            </a:r>
          </a:p>
          <a:p>
            <a:pPr/>
            <a:r>
              <a:t>ROC-AUC and confusion matrices.</a:t>
            </a:r>
          </a:p>
          <a:p>
            <a:pPr/>
            <a:r>
              <a:t>Permutation importance on the held-out split (no causal interpretation).</a:t>
            </a:r>
          </a:p>
          <a:p>
            <a:pPr/>
            <a:r>
              <a:t>Training time measured under identical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0.696</a:t>
            </a:r>
          </a:p>
          <a:p>
            <a:pPr/>
            <a:r>
              <a:t>Precision (at_risk): 0.542</a:t>
            </a:r>
          </a:p>
          <a:p>
            <a:pPr/>
            <a:r>
              <a:t>Recall (at_risk): 0.500</a:t>
            </a:r>
          </a:p>
          <a:p>
            <a:pPr/>
            <a:r>
              <a:t>F1 (at_risk): 0.520</a:t>
            </a:r>
          </a:p>
          <a:p>
            <a:pPr/>
            <a:r>
              <a:t>ROC-AUC: 0.644</a:t>
            </a:r>
          </a:p>
          <a:p>
            <a:pPr/>
            <a:r>
              <a:t>Fit+C V time: 4.3 s (test predict: 0.0141 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0.582</a:t>
            </a:r>
          </a:p>
          <a:p>
            <a:pPr/>
            <a:r>
              <a:t>Precision (at_risk): 0.387</a:t>
            </a:r>
          </a:p>
          <a:p>
            <a:pPr/>
            <a:r>
              <a:t>Recall (at_risk): 0.462</a:t>
            </a:r>
          </a:p>
          <a:p>
            <a:pPr/>
            <a:r>
              <a:t>F1 (at_risk): 0.421</a:t>
            </a:r>
          </a:p>
          <a:p>
            <a:pPr/>
            <a:r>
              <a:t>ROC-AUC: 0.594</a:t>
            </a:r>
          </a:p>
          <a:p>
            <a:pPr/>
            <a:r>
              <a:t>Fit+C V time: 3.92 s (test predict: 0.0066 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0.582</a:t>
            </a:r>
          </a:p>
          <a:p>
            <a:pPr/>
            <a:r>
              <a:t>Precision (at_risk): 0.387</a:t>
            </a:r>
          </a:p>
          <a:p>
            <a:pPr/>
            <a:r>
              <a:t>Recall (at_risk): 0.462</a:t>
            </a:r>
          </a:p>
          <a:p>
            <a:pPr/>
            <a:r>
              <a:t>F1 (at_risk): 0.421</a:t>
            </a:r>
          </a:p>
          <a:p>
            <a:pPr/>
            <a:r>
              <a:t>ROC-AUC: 0.567</a:t>
            </a:r>
          </a:p>
          <a:p>
            <a:pPr/>
            <a:r>
              <a:t>Fit+C V time: 0.54 s (test predict: 0.0069 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(measured)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754880" cy="2449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 (measured)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754880" cy="12494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 (measured)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754880" cy="3721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(measured)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754880" cy="32501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 quantification (optional experiment)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G1/G2 included (NOT comparable!):</a:t>
            </a:r>
          </a:p>
          <a:p>
            <a:pPr/>
            <a:r>
              <a:t>Best model Decision Tree: accuracy 0.873, F1 0.833.</a:t>
            </a:r>
          </a:p>
          <a:p>
            <a:pPr/>
            <a:r>
              <a:t>Early-scenario best F1: 0.520.</a:t>
            </a:r>
          </a:p>
          <a:p>
            <a:pPr/>
            <a:r>
              <a:t>The gap is the 'shortcut' that G1/G2 provide near the end of the course.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dashboard: risk input form generated from the model schema, measured metrics, EDA, methodology and disclaimers.</a:t>
            </a:r>
          </a:p>
          <a:p>
            <a:pPr/>
            <a:r>
              <a:t>Only artifacts produced by 'python -m src.train' are shown - no hardcoded numbers.</a:t>
            </a:r>
          </a:p>
          <a:p>
            <a:pPr/>
            <a:r>
              <a:t>Missing artifacts -&gt; clear setup instructions, never a fake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dataset (395 students, one subject, two schools, 2008).</a:t>
            </a:r>
          </a:p>
          <a:p>
            <a:pPr/>
            <a:r>
              <a:t>Single-split evaluation - differences are noisy; CV F1 was similar across models.</a:t>
            </a:r>
          </a:p>
          <a:p>
            <a:pPr/>
            <a:r>
              <a:t>Threshold G3 &lt; 10 is a project-defined rule.</a:t>
            </a:r>
          </a:p>
          <a:p>
            <a:pPr/>
            <a:r>
              <a:t>Predictive association only - no causality claims.</a:t>
            </a:r>
          </a:p>
          <a:p>
            <a:pPr/>
            <a:r>
              <a:t>Fairness/bias caveats; educational prototype, not for real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delivered the best measured F1 and ROC-AUC, but no algorithm separates decisively at this scale.</a:t>
            </a:r>
          </a:p>
          <a:p>
            <a:pPr/>
            <a:r>
              <a:t>Leakage-aware design is the real contribution: without it, metrics are optimistically inflated.</a:t>
            </a:r>
          </a:p>
          <a:p>
            <a:pPr/>
            <a:r>
              <a:t>Future: repeated CV, calibration, fairness audit, cost-sensitive thresholds.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(verified)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entries below were verified against the official sources: the UCI</a:t>
            </a:r>
          </a:p>
          <a:p>
            <a:pPr/>
            <a:r>
              <a:t>dataset page (2026 metadata) and the Crossref REST API (DOI resolution).</a:t>
            </a:r>
          </a:p>
          <a:p>
            <a:pPr/>
            <a:r>
              <a:t>Verification date: 2026-10-18. Helper scripts used:</a:t>
            </a:r>
          </a:p>
          <a:p>
            <a:pPr/>
            <a:r>
              <a:t>`research/verify_references.py` and `research/find_dois.py`.</a:t>
            </a:r>
          </a:p>
          <a:p>
            <a:pPr/>
            <a:r>
              <a:t>1. Cortez, P., &amp; Silva, A. M. G. (2008). Using data mining to predict</a:t>
            </a:r>
          </a:p>
          <a:p>
            <a:pPr/>
            <a:r>
              <a:t>secondary school student performance. In A. Brito &amp; J. Teixeira (Eds.),</a:t>
            </a:r>
          </a:p>
          <a:p>
            <a:pPr/>
            <a:r>
              <a:t>(pp. 5–12). EUROSIS-ETI.</a:t>
            </a:r>
          </a:p>
          <a:p>
            <a:pPr/>
            <a:r>
              <a:t>A. M. G. Silva, 2008).*</a:t>
            </a:r>
          </a:p>
          <a:p>
            <a:pPr/>
            <a:r>
              <a:t>2. Cortez, P. (2008). *Student performance* [Dataset]. UCI Machine Learning</a:t>
            </a:r>
          </a:p>
          <a:p>
            <a:pPr/>
            <a:r>
              <a:t>Repository. https://doi.org/10.24432/C5TG7T</a:t>
            </a:r>
          </a:p>
          <a:p>
            <a:pPr/>
            <a:r>
              <a:t>3. Romero, C., &amp; Ventura, S. (2010). Educational data mining: A review of</a:t>
            </a:r>
          </a:p>
          <a:p>
            <a:pPr/>
            <a:r>
              <a:t>the state of the art. *IEEE Transactions on Systems, Man, 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